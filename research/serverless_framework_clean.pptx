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4572000"/>
          </a:xfrm>
          <a:prstGeom prst="oval">
            <a:avLst/>
          </a:prstGeom>
          <a:solidFill>
            <a:srgbClr val="003B4A">
              <a:alpha val="70000"/>
            </a:srgbClr>
          </a:solidFill>
          <a:ln w="12700">
            <a:solidFill>
              <a:srgbClr val="003B4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Serverless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E5FF"/>
                </a:solidFill>
              </a:rPr>
              <a:t>Framework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02920" y="3035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Multi-Cloud Serverless — From concept to production in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639312"/>
            <a:ext cx="1965960" cy="320040"/>
          </a:xfrm>
          <a:prstGeom prst="rect">
            <a:avLst/>
          </a:prstGeom>
          <a:solidFill>
            <a:srgbClr val="FF9900">
              <a:alpha val="25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39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 Lambda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3639312"/>
            <a:ext cx="1965960" cy="32004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639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 Functions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3639312"/>
            <a:ext cx="1965960" cy="320040"/>
          </a:xfrm>
          <a:prstGeom prst="rect">
            <a:avLst/>
          </a:prstGeom>
          <a:solidFill>
            <a:srgbClr val="34A853">
              <a:alpha val="25000"/>
            </a:srgbClr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639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Cloud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3639312"/>
            <a:ext cx="1965960" cy="32004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639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 Source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Cloud Computing &amp; Big Data Analytics  •  Research Tutorial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27939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26464"/>
            <a:ext cx="41148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0817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26464" y="13533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What is Serverless?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26464" y="17373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The paradigm &amp; why it matters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" y="2450592"/>
            <a:ext cx="427939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" y="2615184"/>
            <a:ext cx="41148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5420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02</a:t>
            </a:r>
            <a:endParaRPr lang="en-US" sz="2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9689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26464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The Serverless Framework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426464" y="29260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Architecture, YAML &amp; core concepts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" y="3639312"/>
            <a:ext cx="427939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7472" y="3803904"/>
            <a:ext cx="41148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3730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03</a:t>
            </a:r>
            <a:endParaRPr lang="en-US" sz="2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78561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26464" y="3730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Multi-Cloud Support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426464" y="41148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AWS, Azure, GCP with one toolset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828032" y="1261872"/>
            <a:ext cx="427939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28032" y="1426464"/>
            <a:ext cx="41148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937760" y="13533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04</a:t>
            </a:r>
            <a:endParaRPr lang="en-US" sz="2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40817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07024" y="13533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Live Demo &amp; CLI Walkthrough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907024" y="17373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Deploy a function from scratch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828032" y="2450592"/>
            <a:ext cx="427939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28032" y="2615184"/>
            <a:ext cx="41148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37760" y="25420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05</a:t>
            </a:r>
            <a:endParaRPr lang="en-US" sz="2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59689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907024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Community &amp; Comparisons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5907024" y="29260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Ecosystem, pros/cons, alternatives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828032" y="3639312"/>
            <a:ext cx="4279392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828032" y="3803904"/>
            <a:ext cx="41148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937760" y="3730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06</a:t>
            </a:r>
            <a:endParaRPr lang="en-US" sz="2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785616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907024" y="37307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Resources &amp; Key Takeaways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5907024" y="41148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Where to go from here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is Serverless?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8449056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07008"/>
            <a:ext cx="41148" cy="8229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EDF3"/>
                </a:solidFill>
              </a:rPr>
              <a:t>"Serverless doesn't mean no servers — it means you stop thinking about them."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" y="2212848"/>
            <a:ext cx="274320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2212848"/>
            <a:ext cx="27432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33172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2313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Traditional VM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" y="277063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Always-on, pay 24/7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" y="323697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Manual scaling &amp; patching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" y="370332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Full OS responsibility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" y="416966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Minutes to provision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27832" y="2212848"/>
            <a:ext cx="274320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27832" y="2212848"/>
            <a:ext cx="274320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33172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76472" y="2313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Containers / K8s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92424" y="277063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Cluster running 24/7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92424" y="323697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You own orchestration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92424" y="370332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Faster than VMs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92424" y="416966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Complex to operate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08192" y="2212848"/>
            <a:ext cx="2743200" cy="2697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08192" y="2212848"/>
            <a:ext cx="27432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331720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56832" y="23134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</a:rPr>
              <a:t xml:space="preserve">Serverless 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72784" y="277063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Scales to zero automatically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72784" y="323697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Pay per ms of execution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272784" y="370332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No infra to manage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272784" y="416966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Event-driven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01 — WHY IT MATTERS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Serverless? The Business Case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4315968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25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</a:rPr>
              <a:t>Cost Efficiency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9264" y="1664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Zero idle cost. Pay only for actual compute time — often 10-90% cheaper than equivalent VMs for bursty workloads.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" y="2468880"/>
            <a:ext cx="4315968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58775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2560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</a:rPr>
              <a:t>Infinite Scale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9264" y="2926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Automatically handles 1 request or 1,000,000. AWS Lambda scales from 0 to 10,000 concurrent executions by default.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47472" y="3730752"/>
            <a:ext cx="4315968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84962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9264" y="3822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Speed to Market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9264" y="41879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Ship features, not infrastructure. Teams report 50–75% faster deployment cycles vs. traditional approaches.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09744" y="1207008"/>
            <a:ext cx="4315968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132588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31536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Reduced Ops Burden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31536" y="1664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No patching, capacity planning, or OS management. The provider handles all underlying infrastructure concerns.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809744" y="2468880"/>
            <a:ext cx="4315968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58775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31536" y="2560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</a:rPr>
              <a:t>Event-Driven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31536" y="2926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Naturally reactive architecture. Triggers from HTTP, queues, databases, schedules, IoT events and more.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809744" y="3730752"/>
            <a:ext cx="4315968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849624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31536" y="3822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Built-in HA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431536" y="41879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High availability and fault tolerance come standard. Functions run across multiple AZs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Serverless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</a:rPr>
              <a:t>Open-source CLI that turns serverless.yml &gt; fully deployed cloud infrastructure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084832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72768"/>
            <a:ext cx="2084832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8249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serverless.yml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Declare everything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in one config file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31720" y="1920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59736" y="1572768"/>
            <a:ext cx="2084832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9736" y="1572768"/>
            <a:ext cx="2084832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68249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</a:rPr>
              <a:t>sls deploy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51176" y="22128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CLI packages 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&amp; calls provider 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62856" y="1920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90872" y="1572768"/>
            <a:ext cx="2084832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1572768"/>
            <a:ext cx="2084832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68249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8CFF"/>
                </a:solidFill>
              </a:rPr>
              <a:t>CloudFormation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C8CFF"/>
                </a:solidFill>
              </a:rPr>
              <a:t>/ ARM / Deployment Manager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82312" y="22128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IaC layer creates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all resources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93992" y="19202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</a:rPr>
              <a:t>&gt;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922008" y="1572768"/>
            <a:ext cx="2084832" cy="1417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22008" y="1572768"/>
            <a:ext cx="2084832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168249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D353"/>
                </a:solidFill>
              </a:rPr>
              <a:t>Live Function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9D353"/>
                </a:solidFill>
              </a:rPr>
              <a:t>+ API + Resources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13448" y="2212848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Running in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cloud in seconds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218688"/>
            <a:ext cx="21031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3756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96112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Functions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376732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Single-purpose units of business logic — each maps to one cloud function (Lambda, etc.)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60320" y="3218688"/>
            <a:ext cx="21031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333756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108960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</a:rPr>
              <a:t>Events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2670048" y="376732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HTTP requests, S3 uploads, DynamoDB streams, SQS messages, cron schedules, WebSocket...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773168" y="3218688"/>
            <a:ext cx="21031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333756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21808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Resources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4882896" y="376732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Databases, queues, buckets, IAM roles — declared as CloudFormation/Terraform resources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986016" y="3218688"/>
            <a:ext cx="21031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3337560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534656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</a:rPr>
              <a:t>Plugins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095744" y="3767328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1000+ community plugins: offline emulation, TypeScript, webpack, Datadog, Sentry...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02 — CONFIGURATION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serverless.yml File Explained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074920" cy="37673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482803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my-rest-api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frameworkVersion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'3'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name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aws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runtime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nodejs20.x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region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eu-west-1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stage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${opt:stage, 'dev'}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iam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role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statements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- Effect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Allow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getUser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handler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src/users.get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timeout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events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- httpApi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path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/users/{id}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method</a:t>
            </a:r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get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Resources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UsersTable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Type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AWS::DynamoDB::Table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41264" y="1225296"/>
            <a:ext cx="41148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50992" y="1481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Logical project name — used as prefix for all created AWS resources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41264" y="1737360"/>
            <a:ext cx="41148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</a:rPr>
              <a:t>provider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50992" y="1993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Target cloud + global settings (runtime, region, IAM, env vars, tags)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41264" y="2807208"/>
            <a:ext cx="41148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2788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</a:rPr>
              <a:t>functions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50992" y="30632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Each entry = one Lambda. Handler points to file.exportedFunction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41264" y="3447288"/>
            <a:ext cx="41148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34290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353"/>
                </a:solidFill>
              </a:rPr>
              <a:t>events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50992" y="3703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What triggers this function — HTTP, S3, SQS, schedule, WebSocket...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41264" y="4151376"/>
            <a:ext cx="41148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</a:rPr>
              <a:t>resources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0992" y="44074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CloudFormation resources (DynamoDB, S3, SQS, etc.) deployed alongside code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Multi-Cloud Support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</a:rPr>
              <a:t>Change provider: aws &gt; azure — everything else stays the same.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788920" cy="3401568"/>
          </a:xfrm>
          <a:prstGeom prst="rect">
            <a:avLst/>
          </a:prstGeom>
          <a:solidFill>
            <a:srgbClr val="1A0F00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78892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</a:rPr>
              <a:t>AWS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Amazon Web Services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1920240" cy="237744"/>
          </a:xfrm>
          <a:prstGeom prst="rect">
            <a:avLst/>
          </a:prstGeom>
          <a:solidFill>
            <a:srgbClr val="FF9900">
              <a:alpha val="20000"/>
            </a:srgbClr>
          </a:solidFill>
          <a:ln w="12700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900"/>
                </a:solidFill>
              </a:rPr>
              <a:t>Primary — most complete support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Function: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Lambda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Triggers: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API Gateway, S3, SQS, EventBridge, DynamoDB Streams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15-min timeout · 10k concurrent default · 1M free req/mo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27832" y="1554480"/>
            <a:ext cx="2788920" cy="3401568"/>
          </a:xfrm>
          <a:prstGeom prst="rect">
            <a:avLst/>
          </a:prstGeom>
          <a:solidFill>
            <a:srgbClr val="00101C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554480"/>
            <a:ext cx="278892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6642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8D4"/>
                </a:solidFill>
              </a:rPr>
              <a:t>Azure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64992" y="2121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Microsoft Azure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64992" y="2450592"/>
            <a:ext cx="1920240" cy="237744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</a:rPr>
              <a:t>Full support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2788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Function: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Azure Functions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64992" y="3337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Triggers: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35478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HTTP Trigger, Service Bus, Blob Storage, Event Grid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64992" y="42245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Consumption plan · Durable Functions support · .NET / JS / Python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35624" y="1554480"/>
            <a:ext cx="2788920" cy="3401568"/>
          </a:xfrm>
          <a:prstGeom prst="rect">
            <a:avLst/>
          </a:prstGeom>
          <a:solidFill>
            <a:srgbClr val="00140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5624" y="1554480"/>
            <a:ext cx="278892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6642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A853"/>
                </a:solidFill>
              </a:rPr>
              <a:t>GCP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72784" y="21214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Google Cloud Platform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72784" y="2450592"/>
            <a:ext cx="1920240" cy="237744"/>
          </a:xfrm>
          <a:prstGeom prst="rect">
            <a:avLst/>
          </a:prstGeom>
          <a:solidFill>
            <a:srgbClr val="34A853">
              <a:alpha val="20000"/>
            </a:srgbClr>
          </a:solidFill>
          <a:ln w="12700">
            <a:solidFill>
              <a:srgbClr val="34A853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A853"/>
                </a:solidFill>
              </a:rPr>
              <a:t>Full support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784" y="2788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Function: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72784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Cloud Functions / Cloud Run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72784" y="33375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Triggers: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72784" y="354787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Pub/Sub, Firestore, Cloud Storage, HTTP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72784" y="42245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Cloud Run for containers · 2M free invocations/mo · Gen2 functions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491947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</a:rPr>
              <a:t xml:space="preserve">  Same CLI commands work everywhere:  sls deploy  /  sls invoke  /  sls logs  /  sls remove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04 —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Deploy in 5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</a:rPr>
              <a:t>A complete function live on AWS from a blank terminal: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554480"/>
            <a:ext cx="402336" cy="402336"/>
          </a:xfrm>
          <a:prstGeom prst="oval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4937760" cy="548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52704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-g serverless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517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Install the 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792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One-time global install. Requires Node.js ≥ 18.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267712"/>
            <a:ext cx="402336" cy="402336"/>
          </a:xfrm>
          <a:prstGeom prst="oval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2194560"/>
            <a:ext cx="4937760" cy="548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2240280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serverless create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--template aws-nodejs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--path my-service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2311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Scaffold a project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505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Generates handler.js + serverless.yml with sensible defaults.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2980944"/>
            <a:ext cx="402336" cy="402336"/>
          </a:xfrm>
          <a:prstGeom prst="oval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2907792"/>
            <a:ext cx="4937760" cy="548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295351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my-service &amp;&amp; sls deploy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944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 to AWS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218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Packages code &gt; uploads to S3 &gt; executes CloudFormation stack.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694176"/>
            <a:ext cx="402336" cy="402336"/>
          </a:xfrm>
          <a:prstGeom prst="oval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3621024"/>
            <a:ext cx="4937760" cy="548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66674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sls invoke -f hello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--data '{"name":"world"}'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Invoke remotely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3931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Call the function directly. Returns response + logs.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407408"/>
            <a:ext cx="402336" cy="402336"/>
          </a:xfrm>
          <a:prstGeom prst="oval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68680" y="4334256"/>
            <a:ext cx="4937760" cy="5486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7552" y="437997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sls remove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43708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Teardown everything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645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Deletes the entire CloudFormation stack — no orphaned resources.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05 — COMMUNITY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Community &amp; Adoption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20574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2618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</a:rPr>
              <a:t>59K+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801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Stars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Top IaC tool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23744" y="1207008"/>
            <a:ext cx="20574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12618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B341"/>
                </a:solidFill>
              </a:rPr>
              <a:t>1M+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23744" y="1801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Weekly Downloads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23744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npm installs / week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0016" y="1207008"/>
            <a:ext cx="20574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2618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C8CFF"/>
                </a:solidFill>
              </a:rPr>
              <a:t>1,000+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00016" y="1801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Plugins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Community extensions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76288" y="1207008"/>
            <a:ext cx="20574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76288" y="1261872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D353"/>
                </a:solidFill>
              </a:rPr>
              <a:t>2015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76288" y="18013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20574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9+ years of maturity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560320"/>
            <a:ext cx="4251960" cy="23957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560320"/>
            <a:ext cx="41148" cy="239572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633472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2633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D353"/>
                </a:solidFill>
              </a:rPr>
              <a:t>Why people love it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Zero infra management — focus 100% on code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3456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Deploy to any major cloud with one CLI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02920" y="3840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Large plugin ecosystem (offline, webpack, TS…)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920" y="42245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Infrastructure as Code baked in from day 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46085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Active community, great docs, many examples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73168" y="2560320"/>
            <a:ext cx="4023360" cy="23957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73168" y="2560320"/>
            <a:ext cx="41148" cy="239572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33472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21808" y="26334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Known limitations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919472" y="3072384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YAML ties you to provider-specific APIs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919472" y="345643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Cold starts (mitigated with Provisioned Concurrency)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919472" y="384048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Max 15 min exec time (AWS Lambda hard limit)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919472" y="422452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Debugging locally requires serverless-offline plugin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919472" y="460857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-  v3&gt;v4 had a paid model (now free for solo devs)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05 —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Serverless Framework vs Alternatives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14884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Tool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234440"/>
            <a:ext cx="123444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23444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Multi-Cloud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234440"/>
            <a:ext cx="1115568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234440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FaaS Focus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234440"/>
            <a:ext cx="137160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2344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Learning Curve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99048" y="1234440"/>
            <a:ext cx="123444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23444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IaC Built-in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33488" y="1234440"/>
            <a:ext cx="2039112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1234440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Best For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709928"/>
            <a:ext cx="2148840" cy="502920"/>
          </a:xfrm>
          <a:prstGeom prst="rect">
            <a:avLst/>
          </a:prstGeom>
          <a:solidFill>
            <a:srgbClr val="0D2B0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70992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D353"/>
                </a:solidFill>
              </a:rPr>
              <a:t>Serverless Framework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1709928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7099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1709928"/>
            <a:ext cx="111556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70992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Primary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27448" y="1709928"/>
            <a:ext cx="1371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7099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99048" y="1709928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70992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33488" y="1709928"/>
            <a:ext cx="203911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79208" y="170992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Rapid FaaS across clouds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240280"/>
            <a:ext cx="21488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240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AWS SAM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77440" y="2240280"/>
            <a:ext cx="1234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2402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AWS only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11880" y="2240280"/>
            <a:ext cx="11155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240280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27448" y="2240280"/>
            <a:ext cx="13716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240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</a:rPr>
              <a:t>Medium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99048" y="2240280"/>
            <a:ext cx="1234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22402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33488" y="2240280"/>
            <a:ext cx="2039112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224028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AWS-native teams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2770632"/>
            <a:ext cx="21488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770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Terraform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0" y="2770632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2770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11880" y="2770632"/>
            <a:ext cx="111556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2770632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Partial Manual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27448" y="2770632"/>
            <a:ext cx="1371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2770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High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99048" y="2770632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44768" y="2770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333488" y="2770632"/>
            <a:ext cx="203911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79208" y="2770632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Full infra, any cloud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3300984"/>
            <a:ext cx="21488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3009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Pulumi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77440" y="3300984"/>
            <a:ext cx="1234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23160" y="330098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11880" y="3300984"/>
            <a:ext cx="11155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3300984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Partial Manual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27448" y="3300984"/>
            <a:ext cx="13716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330098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</a:rPr>
              <a:t>Medium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099048" y="3300984"/>
            <a:ext cx="1234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330098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333488" y="3300984"/>
            <a:ext cx="2039112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3300984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Code-first IaC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28600" y="3831336"/>
            <a:ext cx="21488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8313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AWS CDK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377440" y="3831336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23160" y="383133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AWS only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11880" y="3831336"/>
            <a:ext cx="111556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3831336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27448" y="3831336"/>
            <a:ext cx="1371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73168" y="383133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</a:rPr>
              <a:t>Medium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099048" y="3831336"/>
            <a:ext cx="123444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44768" y="383133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333488" y="3831336"/>
            <a:ext cx="2039112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79208" y="3831336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Complex AWS architectures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28600" y="4361688"/>
            <a:ext cx="21488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3616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SST (Ion)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377440" y="4361688"/>
            <a:ext cx="1234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23160" y="436168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8166"/>
                </a:solidFill>
              </a:rPr>
              <a:t>AWS only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611880" y="4361688"/>
            <a:ext cx="1115568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0" y="4361688"/>
            <a:ext cx="102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Primary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727448" y="4361688"/>
            <a:ext cx="13716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773168" y="4361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Low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099048" y="4361688"/>
            <a:ext cx="1234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44768" y="436168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D353"/>
                </a:solidFill>
              </a:rPr>
              <a:t>Yes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333488" y="4361688"/>
            <a:ext cx="2039112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79208" y="4361688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Full-stack AWS apps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47472" y="495604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B341"/>
                </a:solidFill>
              </a:rPr>
              <a:t xml:space="preserve">  Serverless Framework shines when you need FaaS across multiple clouds without deep IaC expertise.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E5FF"/>
                </a:solidFill>
              </a:rPr>
              <a:t>SECTION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Resources to Go Deeper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315968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29844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12618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</a:rPr>
              <a:t>Official Docs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05256" y="16002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serverless.com/framework/docs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05256" y="18562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Full reference for YAML config, CLI commands, providers, plugins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432304"/>
            <a:ext cx="4315968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560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5256" y="25237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353"/>
                </a:solidFill>
              </a:rPr>
              <a:t>GitHub — Examples Repo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05256" y="2862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github.com/serverless/examples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905256" y="3118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50+ real-world templates: REST API, GraphQL, ML, auth, scheduled jobs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694176"/>
            <a:ext cx="4315968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8221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" y="378561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B341"/>
                </a:solidFill>
              </a:rPr>
              <a:t>Serverless Blog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05256" y="4123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serverless.com/blog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905256" y="43799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Case studies, best practices, provider comparisons, announcements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00600" y="1170432"/>
            <a:ext cx="4315968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29844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85816" y="12618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C8CFF"/>
                </a:solidFill>
              </a:rPr>
              <a:t>Serverless Guru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385816" y="16002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serverlessguru.com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385816" y="18562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Advanced articles on CI/CD, multi-cloud patterns, performance tuning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800600" y="2432304"/>
            <a:ext cx="4315968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25603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85816" y="25237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</a:rPr>
              <a:t>Udemy Courses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385816" y="28620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udemy.com &gt; 'Serverless Framework'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5385816" y="31181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Practical video courses with hands-on labs — deploy real apps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00600" y="3694176"/>
            <a:ext cx="4315968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382219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85816" y="378561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8166"/>
                </a:solidFill>
              </a:rPr>
              <a:t>serverless-offline Plugin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385816" y="4123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github.com/dherault/serverless-offline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5385816" y="43799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Emulate API Gateway &amp; Lambda locally — essential for dev workflow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4572000"/>
          </a:xfrm>
          <a:prstGeom prst="oval">
            <a:avLst/>
          </a:prstGeom>
          <a:solidFill>
            <a:srgbClr val="003B4A">
              <a:alpha val="70000"/>
            </a:srgbClr>
          </a:solidFill>
          <a:ln w="12700">
            <a:solidFill>
              <a:srgbClr val="003B4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Takeaways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2688" y="1207008"/>
            <a:ext cx="41148" cy="2926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11556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Serverless = event-driven compute, zero infra, pay-per-execution — a fundamental shift in cloud architecture.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7672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2688" y="1984248"/>
            <a:ext cx="41148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51560" y="1892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Serverless Framework unifies AWS, Azure &amp; GCP under one YAML file and CLI — write once, deploy anywhere.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4912"/>
            <a:ext cx="365760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32688" y="2761488"/>
            <a:ext cx="41148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51560" y="26700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Productivity win: from blank terminal to live HTTP endpoint in under 5 minutes, with full IaC.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02152"/>
            <a:ext cx="365760" cy="365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32688" y="3538728"/>
            <a:ext cx="41148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51560" y="344728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Mature &amp; widely adopted — 59K GitHub stars, 1M+ weekly downloads, trusted by startups and Fortune 500s.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79392"/>
            <a:ext cx="365760" cy="36576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932688" y="4315968"/>
            <a:ext cx="41148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1051560" y="422452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Know the trade-offs: cold starts, 15-min exec limit, vendor-specific YAML, and stateless constraints.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serverless.com  •  github.com/serverless/serverless  •  #serverless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Framework – Multi-Cloud Serverless</dc:title>
  <dc:subject>PptxGenJS Presentation</dc:subject>
  <dc:creator>PptxGenJS</dc:creator>
  <cp:lastModifiedBy>PptxGenJS</cp:lastModifiedBy>
  <cp:revision>1</cp:revision>
  <dcterms:created xsi:type="dcterms:W3CDTF">2026-05-07T06:37:19Z</dcterms:created>
  <dcterms:modified xsi:type="dcterms:W3CDTF">2026-05-07T06:37:19Z</dcterms:modified>
</cp:coreProperties>
</file>